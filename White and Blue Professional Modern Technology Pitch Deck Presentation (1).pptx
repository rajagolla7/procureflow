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70" r:id="rId9"/>
    <p:sldId id="269" r:id="rId10"/>
    <p:sldId id="271" r:id="rId11"/>
    <p:sldId id="268" r:id="rId12"/>
    <p:sldId id="272" r:id="rId13"/>
    <p:sldId id="267" r:id="rId14"/>
    <p:sldId id="266" r:id="rId15"/>
  </p:sldIdLst>
  <p:sldSz cx="18288000" cy="10287000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Bold" panose="00000800000000000000" charset="0"/>
      <p:regular r:id="rId20"/>
    </p:embeddedFont>
    <p:embeddedFont>
      <p:font typeface="Montserrat Bold Italics" panose="020B0604020202020204" charset="0"/>
      <p:regular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Bold" panose="00000800000000000000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57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7502" y="5590237"/>
            <a:ext cx="14099416" cy="140994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20234" y="-1717598"/>
            <a:ext cx="3735531" cy="373553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7857" y="-643475"/>
            <a:ext cx="1286950" cy="12869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929195" y="8389571"/>
            <a:ext cx="3735531" cy="373553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757394" y="7522582"/>
            <a:ext cx="8779632" cy="1733977"/>
          </a:xfrm>
          <a:custGeom>
            <a:avLst/>
            <a:gdLst/>
            <a:ahLst/>
            <a:cxnLst/>
            <a:rect l="l" t="t" r="r" b="b"/>
            <a:pathLst>
              <a:path w="8779632" h="1733977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109566" y="2231807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89" y="0"/>
                </a:lnTo>
                <a:lnTo>
                  <a:pt x="10075289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86875" y="3517017"/>
            <a:ext cx="7770823" cy="400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7"/>
              </a:lnSpc>
              <a:spcBef>
                <a:spcPct val="0"/>
              </a:spcBef>
            </a:pPr>
            <a:r>
              <a:rPr lang="en-US" sz="5719" b="1" i="1">
                <a:solidFill>
                  <a:srgbClr val="DE3025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Smart Procurement &amp; Purchase Order Management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6875" y="2012732"/>
            <a:ext cx="7080866" cy="1360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16"/>
              </a:lnSpc>
              <a:spcBef>
                <a:spcPct val="0"/>
              </a:spcBef>
            </a:pPr>
            <a:r>
              <a:rPr lang="en-US" sz="7511" b="1" spc="-150">
                <a:solidFill>
                  <a:srgbClr val="1C18C2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TITLE: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649405" y="904875"/>
            <a:ext cx="6730075" cy="337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5"/>
              </a:lnSpc>
            </a:pPr>
            <a:r>
              <a:rPr lang="en-US" sz="5575" b="1">
                <a:solidFill>
                  <a:srgbClr val="145D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  <a:p>
            <a:pPr algn="l">
              <a:lnSpc>
                <a:spcPts val="10202"/>
              </a:lnSpc>
            </a:pPr>
            <a:endParaRPr lang="en-US" sz="5575" b="1">
              <a:solidFill>
                <a:srgbClr val="145DA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8948"/>
              </a:lnSpc>
              <a:spcBef>
                <a:spcPct val="0"/>
              </a:spcBef>
            </a:pPr>
            <a:endParaRPr lang="en-US" sz="5575" b="1">
              <a:solidFill>
                <a:srgbClr val="145DA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796731" y="447246"/>
            <a:ext cx="5972616" cy="9392508"/>
          </a:xfrm>
          <a:custGeom>
            <a:avLst/>
            <a:gdLst/>
            <a:ahLst/>
            <a:cxnLst/>
            <a:rect l="l" t="t" r="r" b="b"/>
            <a:pathLst>
              <a:path w="5972616" h="9392508">
                <a:moveTo>
                  <a:pt x="0" y="0"/>
                </a:moveTo>
                <a:lnTo>
                  <a:pt x="5972616" y="0"/>
                </a:lnTo>
                <a:lnTo>
                  <a:pt x="5972616" y="9392508"/>
                </a:lnTo>
                <a:lnTo>
                  <a:pt x="0" y="9392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7" r="-2387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75440" y="2226978"/>
            <a:ext cx="10678006" cy="142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  <a:spcBef>
                <a:spcPct val="0"/>
              </a:spcBef>
            </a:pPr>
            <a:r>
              <a:rPr lang="en-US" sz="2722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The Smart Procurement &amp; Purchase Order Management System is a web-based application designed to digitize the procurement lifecycle.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6173" y="3923824"/>
            <a:ext cx="10893440" cy="5415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5"/>
              </a:lnSpc>
            </a:pPr>
            <a:r>
              <a:rPr lang="en-US" sz="2904" b="1">
                <a:solidFill>
                  <a:srgbClr val="145D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does it manage?</a:t>
            </a:r>
          </a:p>
          <a:p>
            <a:pPr algn="just">
              <a:lnSpc>
                <a:spcPts val="3271"/>
              </a:lnSpc>
            </a:pPr>
            <a:r>
              <a:rPr lang="en-US" sz="2336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Request:</a:t>
            </a:r>
          </a:p>
          <a:p>
            <a:pPr algn="just">
              <a:lnSpc>
                <a:spcPts val="3271"/>
              </a:lnSpc>
            </a:pPr>
            <a:r>
              <a:rPr lang="en-US" sz="2336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Users create  requests for required products.</a:t>
            </a:r>
          </a:p>
          <a:p>
            <a:pPr algn="just">
              <a:lnSpc>
                <a:spcPts val="3271"/>
              </a:lnSpc>
            </a:pPr>
            <a:endParaRPr lang="en-US" sz="2336">
              <a:solidFill>
                <a:srgbClr val="051D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71"/>
              </a:lnSpc>
            </a:pPr>
            <a:r>
              <a:rPr lang="en-US" sz="2336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Approval:</a:t>
            </a:r>
          </a:p>
          <a:p>
            <a:pPr algn="just">
              <a:lnSpc>
                <a:spcPts val="3271"/>
              </a:lnSpc>
            </a:pPr>
            <a:r>
              <a:rPr lang="en-US" sz="2336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Administrators  purchase,review and approve/reject requests.</a:t>
            </a:r>
          </a:p>
          <a:p>
            <a:pPr algn="just">
              <a:lnSpc>
                <a:spcPts val="3271"/>
              </a:lnSpc>
            </a:pPr>
            <a:endParaRPr lang="en-US" sz="2336">
              <a:solidFill>
                <a:srgbClr val="051D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71"/>
              </a:lnSpc>
            </a:pPr>
            <a:r>
              <a:rPr lang="en-US" sz="2336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Fulfillment:</a:t>
            </a:r>
          </a:p>
          <a:p>
            <a:pPr algn="just">
              <a:lnSpc>
                <a:spcPts val="3271"/>
              </a:lnSpc>
            </a:pPr>
            <a:r>
              <a:rPr lang="en-US" sz="2336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Suppliers manage assigned products, inventory and shipments.</a:t>
            </a:r>
          </a:p>
          <a:p>
            <a:pPr algn="just">
              <a:lnSpc>
                <a:spcPts val="3271"/>
              </a:lnSpc>
            </a:pPr>
            <a:endParaRPr lang="en-US" sz="2336">
              <a:solidFill>
                <a:srgbClr val="051D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71"/>
              </a:lnSpc>
            </a:pPr>
            <a:r>
              <a:rPr lang="en-US" sz="2336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Tracking:</a:t>
            </a:r>
          </a:p>
          <a:p>
            <a:pPr algn="just">
              <a:lnSpc>
                <a:spcPts val="3271"/>
              </a:lnSpc>
            </a:pPr>
            <a:r>
              <a:rPr lang="en-US" sz="2336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Users and administrators can monitor order progress and delivery status.</a:t>
            </a:r>
          </a:p>
          <a:p>
            <a:pPr algn="just">
              <a:lnSpc>
                <a:spcPts val="3271"/>
              </a:lnSpc>
              <a:spcBef>
                <a:spcPct val="0"/>
              </a:spcBef>
            </a:pPr>
            <a:endParaRPr lang="en-US" sz="2336">
              <a:solidFill>
                <a:srgbClr val="051D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33087" y="9301563"/>
            <a:ext cx="1155961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DE30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platform connecting Users, Administrators and Suppliers.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5143500"/>
          </a:xfrm>
          <a:custGeom>
            <a:avLst/>
            <a:gdLst/>
            <a:ahLst/>
            <a:cxnLst/>
            <a:rect l="l" t="t" r="r" b="b"/>
            <a:pathLst>
              <a:path w="18288000" h="5143500">
                <a:moveTo>
                  <a:pt x="0" y="0"/>
                </a:moveTo>
                <a:lnTo>
                  <a:pt x="18288000" y="0"/>
                </a:lnTo>
                <a:lnTo>
                  <a:pt x="18288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406" b="-6448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8217" y="9258300"/>
            <a:ext cx="18476217" cy="1028700"/>
            <a:chOff x="0" y="0"/>
            <a:chExt cx="4866164" cy="270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66164" cy="270933"/>
            </a:xfrm>
            <a:custGeom>
              <a:avLst/>
              <a:gdLst/>
              <a:ahLst/>
              <a:cxnLst/>
              <a:rect l="l" t="t" r="r" b="b"/>
              <a:pathLst>
                <a:path w="4866164" h="270933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802646" y="2307827"/>
            <a:ext cx="11117796" cy="3409474"/>
            <a:chOff x="0" y="0"/>
            <a:chExt cx="2928144" cy="8979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28144" cy="897969"/>
            </a:xfrm>
            <a:custGeom>
              <a:avLst/>
              <a:gdLst/>
              <a:ahLst/>
              <a:cxnLst/>
              <a:rect l="l" t="t" r="r" b="b"/>
              <a:pathLst>
                <a:path w="2928144" h="897969">
                  <a:moveTo>
                    <a:pt x="0" y="0"/>
                  </a:moveTo>
                  <a:lnTo>
                    <a:pt x="2928144" y="0"/>
                  </a:lnTo>
                  <a:lnTo>
                    <a:pt x="2928144" y="897969"/>
                  </a:lnTo>
                  <a:lnTo>
                    <a:pt x="0" y="897969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28144" cy="93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69838" y="2611238"/>
            <a:ext cx="5748323" cy="1003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95"/>
              </a:lnSpc>
              <a:spcBef>
                <a:spcPct val="0"/>
              </a:spcBef>
            </a:pPr>
            <a:r>
              <a:rPr lang="en-US" sz="5854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02646" y="3897559"/>
            <a:ext cx="10494490" cy="124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8"/>
              </a:lnSpc>
              <a:spcBef>
                <a:spcPct val="0"/>
              </a:spcBef>
            </a:pP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The Smart Procurement &amp; Purchase Order Management System is a web-based platform that digitizes and streamlines the procurement process from purchase request to delivery.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29387" y="5848282"/>
            <a:ext cx="5840451" cy="2856436"/>
            <a:chOff x="0" y="0"/>
            <a:chExt cx="1538226" cy="7523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8226" cy="752312"/>
            </a:xfrm>
            <a:custGeom>
              <a:avLst/>
              <a:gdLst/>
              <a:ahLst/>
              <a:cxnLst/>
              <a:rect l="l" t="t" r="r" b="b"/>
              <a:pathLst>
                <a:path w="1538226" h="752312">
                  <a:moveTo>
                    <a:pt x="0" y="0"/>
                  </a:moveTo>
                  <a:lnTo>
                    <a:pt x="1538226" y="0"/>
                  </a:lnTo>
                  <a:lnTo>
                    <a:pt x="1538226" y="752312"/>
                  </a:lnTo>
                  <a:lnTo>
                    <a:pt x="0" y="75231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38226" cy="790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00394" y="5848282"/>
            <a:ext cx="5509041" cy="2758140"/>
            <a:chOff x="0" y="0"/>
            <a:chExt cx="1450941" cy="7264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50941" cy="726424"/>
            </a:xfrm>
            <a:custGeom>
              <a:avLst/>
              <a:gdLst/>
              <a:ahLst/>
              <a:cxnLst/>
              <a:rect l="l" t="t" r="r" b="b"/>
              <a:pathLst>
                <a:path w="1450941" h="726424">
                  <a:moveTo>
                    <a:pt x="0" y="0"/>
                  </a:moveTo>
                  <a:lnTo>
                    <a:pt x="1450941" y="0"/>
                  </a:lnTo>
                  <a:lnTo>
                    <a:pt x="1450941" y="726424"/>
                  </a:lnTo>
                  <a:lnTo>
                    <a:pt x="0" y="726424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50941" cy="764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640845" y="5821830"/>
            <a:ext cx="5509041" cy="2758140"/>
            <a:chOff x="0" y="0"/>
            <a:chExt cx="1450941" cy="7264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50941" cy="726424"/>
            </a:xfrm>
            <a:custGeom>
              <a:avLst/>
              <a:gdLst/>
              <a:ahLst/>
              <a:cxnLst/>
              <a:rect l="l" t="t" r="r" b="b"/>
              <a:pathLst>
                <a:path w="1450941" h="726424">
                  <a:moveTo>
                    <a:pt x="0" y="0"/>
                  </a:moveTo>
                  <a:lnTo>
                    <a:pt x="1450941" y="0"/>
                  </a:lnTo>
                  <a:lnTo>
                    <a:pt x="1450941" y="726424"/>
                  </a:lnTo>
                  <a:lnTo>
                    <a:pt x="0" y="726424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50941" cy="764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475140" y="6113391"/>
            <a:ext cx="5840451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Supplier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34689" y="6144191"/>
            <a:ext cx="5840451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9387" y="6113391"/>
            <a:ext cx="5840451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41840" y="6929325"/>
            <a:ext cx="5307051" cy="1289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3"/>
              </a:lnSpc>
              <a:spcBef>
                <a:spcPct val="0"/>
              </a:spcBef>
            </a:pPr>
            <a:r>
              <a:rPr lang="en-US" sz="248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Manages inventory, fulfills approved orders and updates shipping information.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39950" y="6824029"/>
            <a:ext cx="5229929" cy="132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9"/>
              </a:lnSpc>
              <a:spcBef>
                <a:spcPct val="0"/>
              </a:spcBef>
            </a:pPr>
            <a:r>
              <a:rPr lang="en-US" sz="253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Reviews requests, manages approvals, handles payments and monitors order progress.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6567" y="6629647"/>
            <a:ext cx="5517397" cy="171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Creates purchase requests, views products, monitors orders and tracks deliveries.</a:t>
            </a:r>
          </a:p>
          <a:p>
            <a:pPr algn="ctr">
              <a:lnSpc>
                <a:spcPts val="3438"/>
              </a:lnSpc>
              <a:spcBef>
                <a:spcPct val="0"/>
              </a:spcBef>
            </a:pPr>
            <a:endParaRPr lang="en-US" sz="2456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14308" y="7927525"/>
            <a:ext cx="4693046" cy="469304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311279" y="1910968"/>
            <a:ext cx="11705713" cy="7950288"/>
          </a:xfrm>
          <a:custGeom>
            <a:avLst/>
            <a:gdLst/>
            <a:ahLst/>
            <a:cxnLst/>
            <a:rect l="l" t="t" r="r" b="b"/>
            <a:pathLst>
              <a:path w="11705713" h="7950288">
                <a:moveTo>
                  <a:pt x="0" y="0"/>
                </a:moveTo>
                <a:lnTo>
                  <a:pt x="11705714" y="0"/>
                </a:lnTo>
                <a:lnTo>
                  <a:pt x="11705714" y="7950288"/>
                </a:lnTo>
                <a:lnTo>
                  <a:pt x="0" y="7950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7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814385" y="582896"/>
            <a:ext cx="7306346" cy="812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6"/>
              </a:lnSpc>
              <a:spcBef>
                <a:spcPct val="0"/>
              </a:spcBef>
            </a:pPr>
            <a:r>
              <a:rPr lang="en-US" sz="4747" b="1">
                <a:solidFill>
                  <a:srgbClr val="0707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782102" y="-1333500"/>
            <a:ext cx="3564204" cy="356420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38518" y="8010898"/>
            <a:ext cx="3564204" cy="35642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692985" y="294072"/>
            <a:ext cx="12398151" cy="9753600"/>
          </a:xfrm>
          <a:custGeom>
            <a:avLst/>
            <a:gdLst/>
            <a:ahLst/>
            <a:cxnLst/>
            <a:rect l="l" t="t" r="r" b="b"/>
            <a:pathLst>
              <a:path w="5605376" h="8479198">
                <a:moveTo>
                  <a:pt x="0" y="0"/>
                </a:moveTo>
                <a:lnTo>
                  <a:pt x="5605376" y="0"/>
                </a:lnTo>
                <a:lnTo>
                  <a:pt x="5605376" y="8479197"/>
                </a:lnTo>
                <a:lnTo>
                  <a:pt x="0" y="8479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46"/>
            </a:stretch>
          </a:blipFill>
        </p:spPr>
        <p:txBody>
          <a:bodyPr/>
          <a:lstStyle/>
          <a:p>
            <a:r>
              <a:rPr lang="en-US" dirty="0"/>
              <a:t>++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242" y="242294"/>
            <a:ext cx="17793515" cy="9802411"/>
            <a:chOff x="0" y="0"/>
            <a:chExt cx="4982580" cy="2744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905000" y="8984546"/>
            <a:ext cx="13563600" cy="438818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201261" y="714993"/>
            <a:ext cx="7884841" cy="1556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IN" sz="4800" b="1" dirty="0"/>
              <a:t>Login &amp; Authentication</a:t>
            </a:r>
          </a:p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endParaRPr lang="en-US" sz="4500" b="1" dirty="0">
              <a:solidFill>
                <a:srgbClr val="051D4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23CD7A-AB50-B505-CA88-D5A8F5143B66}"/>
              </a:ext>
            </a:extLst>
          </p:cNvPr>
          <p:cNvSpPr txBox="1"/>
          <p:nvPr/>
        </p:nvSpPr>
        <p:spPr>
          <a:xfrm>
            <a:off x="2133600" y="1804367"/>
            <a:ext cx="131064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Secure entry point to the Smart Procurement System</a:t>
            </a:r>
            <a:endParaRPr lang="en-IN" sz="2800" dirty="0"/>
          </a:p>
          <a:p>
            <a:r>
              <a:rPr lang="en-IN" sz="2800" b="1" dirty="0"/>
              <a:t>1. Enter Credentials</a:t>
            </a:r>
          </a:p>
          <a:p>
            <a:r>
              <a:rPr lang="en-IN" sz="2800" dirty="0"/>
              <a:t>Users enter their registered </a:t>
            </a:r>
            <a:r>
              <a:rPr lang="en-IN" sz="2800" b="1" dirty="0"/>
              <a:t>email address and password</a:t>
            </a:r>
            <a:r>
              <a:rPr lang="en-IN" sz="2800" dirty="0"/>
              <a:t> to access the system.</a:t>
            </a:r>
          </a:p>
          <a:p>
            <a:r>
              <a:rPr lang="en-IN" sz="2800" b="1" dirty="0"/>
              <a:t>2. Validate Login</a:t>
            </a:r>
          </a:p>
          <a:p>
            <a:r>
              <a:rPr lang="en-IN" sz="2800" dirty="0"/>
              <a:t>The system checks the entered credentials before processing the login request.</a:t>
            </a:r>
          </a:p>
          <a:p>
            <a:r>
              <a:rPr lang="en-IN" sz="2800" b="1" dirty="0"/>
              <a:t>3. Backend Verification</a:t>
            </a:r>
          </a:p>
          <a:p>
            <a:r>
              <a:rPr lang="en-IN" sz="2800" dirty="0"/>
              <a:t>The credentials are sent to the </a:t>
            </a:r>
            <a:r>
              <a:rPr lang="en-IN" sz="2800" b="1" dirty="0"/>
              <a:t>Spring Boot backend</a:t>
            </a:r>
            <a:r>
              <a:rPr lang="en-IN" sz="2800" dirty="0"/>
              <a:t> through the /</a:t>
            </a:r>
            <a:r>
              <a:rPr lang="en-IN" sz="2800" dirty="0" err="1"/>
              <a:t>api</a:t>
            </a:r>
            <a:r>
              <a:rPr lang="en-IN" sz="2800" dirty="0"/>
              <a:t>/auth/login REST API.</a:t>
            </a:r>
          </a:p>
          <a:p>
            <a:r>
              <a:rPr lang="en-IN" sz="2800" b="1" dirty="0"/>
              <a:t>4. Secure Authentication</a:t>
            </a:r>
          </a:p>
          <a:p>
            <a:r>
              <a:rPr lang="en-IN" sz="2800" dirty="0"/>
              <a:t>The backend verifies the user and checks the password using </a:t>
            </a:r>
            <a:r>
              <a:rPr lang="en-IN" sz="2800" b="1" dirty="0" err="1"/>
              <a:t>BCrypt</a:t>
            </a:r>
            <a:r>
              <a:rPr lang="en-IN" sz="2800" b="1" dirty="0"/>
              <a:t> password verification</a:t>
            </a:r>
            <a:r>
              <a:rPr lang="en-IN" sz="2800" dirty="0"/>
              <a:t>.</a:t>
            </a:r>
          </a:p>
          <a:p>
            <a:r>
              <a:rPr lang="en-IN" sz="2800" b="1" dirty="0"/>
              <a:t>5. Role-Based Access</a:t>
            </a:r>
          </a:p>
          <a:p>
            <a:r>
              <a:rPr lang="en-IN" sz="2800" dirty="0"/>
              <a:t>After successful login, the user's details and role are stored in the session, and the user is directed to the </a:t>
            </a:r>
            <a:r>
              <a:rPr lang="en-IN" sz="2800" b="1" dirty="0"/>
              <a:t>Role Selection</a:t>
            </a:r>
            <a:r>
              <a:rPr lang="en-IN" sz="2800" dirty="0"/>
              <a:t> page.</a:t>
            </a:r>
          </a:p>
          <a:p>
            <a:endParaRPr lang="en-IN" sz="2800" dirty="0"/>
          </a:p>
          <a:p>
            <a:r>
              <a:rPr lang="en-IN" sz="2800" b="1" dirty="0"/>
              <a:t>		</a:t>
            </a:r>
            <a:r>
              <a:rPr lang="en-IN" sz="2800" b="1" dirty="0">
                <a:solidFill>
                  <a:srgbClr val="FF0000"/>
                </a:solidFill>
              </a:rPr>
              <a:t>Login → Validation → REST API → Authentication → Role Selection</a:t>
            </a:r>
            <a:endParaRPr lang="en-IN" sz="2800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061529" y="2937389"/>
            <a:ext cx="12164941" cy="4412223"/>
            <a:chOff x="0" y="0"/>
            <a:chExt cx="3203935" cy="11620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FE6742-0CCC-55F4-984E-E43C1C93F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288001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B84F0-9BBC-207D-24B9-D9D41568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C0CC02-367B-79A8-A993-D200B8F1CB52}"/>
              </a:ext>
            </a:extLst>
          </p:cNvPr>
          <p:cNvGrpSpPr/>
          <p:nvPr/>
        </p:nvGrpSpPr>
        <p:grpSpPr>
          <a:xfrm>
            <a:off x="247242" y="242294"/>
            <a:ext cx="17793515" cy="9802411"/>
            <a:chOff x="0" y="0"/>
            <a:chExt cx="4982580" cy="27448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E928C50-F6D2-DD57-0E2F-6EA665F97C16}"/>
                </a:ext>
              </a:extLst>
            </p:cNvPr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62CB12B-E276-250F-0ADE-3943FB99AAB7}"/>
                </a:ext>
              </a:extLst>
            </p:cNvPr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5881232-D5DE-A378-FCEB-4ED561164FE2}"/>
              </a:ext>
            </a:extLst>
          </p:cNvPr>
          <p:cNvSpPr/>
          <p:nvPr/>
        </p:nvSpPr>
        <p:spPr>
          <a:xfrm>
            <a:off x="1485900" y="9198317"/>
            <a:ext cx="13563600" cy="438818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D282BFD-B337-056D-12B1-710B5BC57709}"/>
              </a:ext>
            </a:extLst>
          </p:cNvPr>
          <p:cNvSpPr txBox="1"/>
          <p:nvPr/>
        </p:nvSpPr>
        <p:spPr>
          <a:xfrm>
            <a:off x="762000" y="714993"/>
            <a:ext cx="169926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IN" sz="4800" b="1" dirty="0"/>
              <a:t>USER DASHBOARD —FRONTEND &amp; BACKEND</a:t>
            </a:r>
            <a:endParaRPr lang="en-US" sz="4500" b="1" dirty="0">
              <a:solidFill>
                <a:srgbClr val="051D4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AE4E87-B7BB-92DC-5AEA-9294C8EC854A}"/>
              </a:ext>
            </a:extLst>
          </p:cNvPr>
          <p:cNvSpPr txBox="1"/>
          <p:nvPr/>
        </p:nvSpPr>
        <p:spPr>
          <a:xfrm>
            <a:off x="1752600" y="1966039"/>
            <a:ext cx="130302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Frontend:</a:t>
            </a:r>
          </a:p>
          <a:p>
            <a:pPr lvl="0"/>
            <a:r>
              <a:rPr lang="en-IN" sz="3200" dirty="0"/>
              <a:t>•Displays a personalized </a:t>
            </a:r>
            <a:r>
              <a:rPr lang="en-IN" sz="3200" b="1" dirty="0"/>
              <a:t>User Dashboard</a:t>
            </a:r>
            <a:r>
              <a:rPr lang="en-IN" sz="3200" dirty="0"/>
              <a:t> after successful login. </a:t>
            </a:r>
          </a:p>
          <a:p>
            <a:pPr lvl="0"/>
            <a:r>
              <a:rPr lang="en-IN" sz="3200" dirty="0"/>
              <a:t>• Shows key statistics: </a:t>
            </a:r>
            <a:r>
              <a:rPr lang="en-IN" sz="3200" b="1" dirty="0"/>
              <a:t>Total Requests, Pending, Approved and Orders</a:t>
            </a:r>
            <a:r>
              <a:rPr lang="en-IN" sz="3200" dirty="0"/>
              <a:t>. </a:t>
            </a:r>
          </a:p>
          <a:p>
            <a:pPr lvl="0"/>
            <a:r>
              <a:rPr lang="en-IN" sz="3200" dirty="0"/>
              <a:t>• Displays the user's </a:t>
            </a:r>
            <a:r>
              <a:rPr lang="en-IN" sz="3200" b="1" dirty="0"/>
              <a:t>recent procurement requests</a:t>
            </a:r>
            <a:r>
              <a:rPr lang="en-IN" sz="3200" dirty="0"/>
              <a:t> and their current status. </a:t>
            </a:r>
          </a:p>
          <a:p>
            <a:pPr lvl="0"/>
            <a:r>
              <a:rPr lang="en-IN" sz="3200" dirty="0"/>
              <a:t>• Provides quick access to </a:t>
            </a:r>
            <a:r>
              <a:rPr lang="en-IN" sz="3200" b="1" dirty="0"/>
              <a:t>New Request, Order Tracking and Downloads</a:t>
            </a:r>
            <a:r>
              <a:rPr lang="en-IN" sz="3200" dirty="0"/>
              <a:t>. </a:t>
            </a:r>
          </a:p>
          <a:p>
            <a:r>
              <a:rPr lang="en-IN" sz="3200" b="1" dirty="0"/>
              <a:t>Backend Integration:</a:t>
            </a:r>
          </a:p>
          <a:p>
            <a:pPr lvl="0"/>
            <a:r>
              <a:rPr lang="en-IN" sz="3200" dirty="0"/>
              <a:t>• The frontend identifies the currently logged-in user using the </a:t>
            </a:r>
            <a:r>
              <a:rPr lang="en-IN" sz="3200" b="1" dirty="0"/>
              <a:t>User ID</a:t>
            </a:r>
            <a:r>
              <a:rPr lang="en-IN" sz="3200" dirty="0"/>
              <a:t>. </a:t>
            </a:r>
          </a:p>
          <a:p>
            <a:pPr lvl="0"/>
            <a:r>
              <a:rPr lang="en-IN" sz="3200" dirty="0"/>
              <a:t>• JavaScript sends a </a:t>
            </a:r>
            <a:r>
              <a:rPr lang="en-IN" sz="3200" b="1" dirty="0"/>
              <a:t>GET REST API request</a:t>
            </a:r>
            <a:r>
              <a:rPr lang="en-IN" sz="3200" dirty="0"/>
              <a:t> to the Spring Boot backend. </a:t>
            </a:r>
          </a:p>
          <a:p>
            <a:pPr lvl="0"/>
            <a:r>
              <a:rPr lang="en-IN" sz="3200" dirty="0"/>
              <a:t>• API endpoint: </a:t>
            </a:r>
            <a:r>
              <a:rPr lang="en-IN" sz="3200" b="1" dirty="0"/>
              <a:t>/</a:t>
            </a:r>
            <a:r>
              <a:rPr lang="en-IN" sz="3200" b="1" dirty="0" err="1"/>
              <a:t>api</a:t>
            </a:r>
            <a:r>
              <a:rPr lang="en-IN" sz="3200" b="1" dirty="0"/>
              <a:t>/requests/user/{</a:t>
            </a:r>
            <a:r>
              <a:rPr lang="en-IN" sz="3200" b="1" dirty="0" err="1"/>
              <a:t>userId</a:t>
            </a:r>
            <a:r>
              <a:rPr lang="en-IN" sz="3200" b="1" dirty="0"/>
              <a:t>}</a:t>
            </a:r>
            <a:r>
              <a:rPr lang="en-IN" sz="3200" dirty="0"/>
              <a:t> </a:t>
            </a:r>
          </a:p>
          <a:p>
            <a:pPr lvl="0"/>
            <a:r>
              <a:rPr lang="en-IN" sz="3200" dirty="0"/>
              <a:t>• Spring Boot retrieves the procurement requests associated with that user. </a:t>
            </a:r>
          </a:p>
          <a:p>
            <a:pPr lvl="0"/>
            <a:r>
              <a:rPr lang="en-IN" sz="3200" dirty="0"/>
              <a:t>• The backend response is returned as </a:t>
            </a:r>
            <a:r>
              <a:rPr lang="en-IN" sz="3200" b="1" dirty="0"/>
              <a:t>JSON data</a:t>
            </a:r>
            <a:r>
              <a:rPr lang="en-IN" sz="3200" dirty="0"/>
              <a:t>. </a:t>
            </a:r>
          </a:p>
          <a:p>
            <a:pPr lvl="0"/>
            <a:endParaRPr lang="en-IN" sz="3200" dirty="0"/>
          </a:p>
          <a:p>
            <a:pPr lvl="0"/>
            <a:r>
              <a:rPr lang="en-IN" sz="3200" dirty="0"/>
              <a:t>	</a:t>
            </a:r>
            <a:r>
              <a:rPr lang="en-IN" sz="3200" dirty="0">
                <a:solidFill>
                  <a:srgbClr val="FF0000"/>
                </a:solidFill>
              </a:rPr>
              <a:t>LOGIN → USER ID → REST API → SPRING BOOT → DATABASE → JSON 	RESPONSE →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55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8CA31-8F4D-7EE2-59DB-EE2E6BE8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2282DE0-BD0E-5A77-2935-CFE484724DD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8F8BE36-02FC-AD1D-9C29-6D2A6D9B4238}"/>
              </a:ext>
            </a:extLst>
          </p:cNvPr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45A5330-B2BF-42D6-EB81-2BA958AE39AD}"/>
              </a:ext>
            </a:extLst>
          </p:cNvPr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2555921-F7B3-93CA-9732-281EA52930F5}"/>
              </a:ext>
            </a:extLst>
          </p:cNvPr>
          <p:cNvGrpSpPr/>
          <p:nvPr/>
        </p:nvGrpSpPr>
        <p:grpSpPr>
          <a:xfrm>
            <a:off x="3061529" y="2937389"/>
            <a:ext cx="12164941" cy="4412223"/>
            <a:chOff x="0" y="0"/>
            <a:chExt cx="3203935" cy="116206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55A9FF2-99D8-EB46-2D1D-4CF89429D096}"/>
                </a:ext>
              </a:extLst>
            </p:cNvPr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8393EA7-2F86-B49A-AE2B-2B08ED792925}"/>
                </a:ext>
              </a:extLst>
            </p:cNvPr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55382B0-3E93-5C56-D544-3BDC0B35F9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26"/>
            <a:ext cx="18288000" cy="1025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743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BDEFD-645E-AA37-184F-BF5BEC03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15F200-F1BF-660E-4BD0-1AB15AB8178A}"/>
              </a:ext>
            </a:extLst>
          </p:cNvPr>
          <p:cNvGrpSpPr/>
          <p:nvPr/>
        </p:nvGrpSpPr>
        <p:grpSpPr>
          <a:xfrm>
            <a:off x="247242" y="242294"/>
            <a:ext cx="17793515" cy="9802411"/>
            <a:chOff x="0" y="0"/>
            <a:chExt cx="4982580" cy="27448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8EA7C63-156C-9343-12DA-63F3D9B273C1}"/>
                </a:ext>
              </a:extLst>
            </p:cNvPr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11723EE-524D-7BB7-413E-2308355BC798}"/>
                </a:ext>
              </a:extLst>
            </p:cNvPr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96A2CA5-C1F6-469E-6C53-2EC7A436BAB1}"/>
              </a:ext>
            </a:extLst>
          </p:cNvPr>
          <p:cNvSpPr/>
          <p:nvPr/>
        </p:nvSpPr>
        <p:spPr>
          <a:xfrm>
            <a:off x="1752600" y="9105060"/>
            <a:ext cx="13944600" cy="438818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4D2B408-82E2-FC9D-AB2C-8391A627BC96}"/>
              </a:ext>
            </a:extLst>
          </p:cNvPr>
          <p:cNvSpPr txBox="1"/>
          <p:nvPr/>
        </p:nvSpPr>
        <p:spPr>
          <a:xfrm>
            <a:off x="2829548" y="765982"/>
            <a:ext cx="12628902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IN" sz="4800" b="1" dirty="0"/>
              <a:t>ADMIN DASHBOARD — FRONTEND &amp; BACKEND</a:t>
            </a:r>
            <a:endParaRPr lang="en-US" sz="4500" b="1" dirty="0">
              <a:solidFill>
                <a:srgbClr val="051D4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00E621-E836-4F58-5F64-90081AD08A7D}"/>
              </a:ext>
            </a:extLst>
          </p:cNvPr>
          <p:cNvSpPr txBox="1"/>
          <p:nvPr/>
        </p:nvSpPr>
        <p:spPr>
          <a:xfrm>
            <a:off x="1981200" y="1917828"/>
            <a:ext cx="13106400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100" b="1" dirty="0"/>
              <a:t>Frontend:</a:t>
            </a:r>
          </a:p>
          <a:p>
            <a:pPr lvl="0"/>
            <a:r>
              <a:rPr lang="en-IN" sz="2800" dirty="0"/>
              <a:t>• Displays key procurement statistics such as </a:t>
            </a:r>
            <a:r>
              <a:rPr lang="en-IN" sz="2800" b="1" dirty="0"/>
              <a:t>Total Requests, Pending, Approved and Paid Orders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• Shows </a:t>
            </a:r>
            <a:r>
              <a:rPr lang="en-IN" sz="2800" b="1" dirty="0"/>
              <a:t>pending requests</a:t>
            </a:r>
            <a:r>
              <a:rPr lang="en-IN" sz="2800" dirty="0"/>
              <a:t> that require administrative action. </a:t>
            </a:r>
          </a:p>
          <a:p>
            <a:pPr lvl="0"/>
            <a:r>
              <a:rPr lang="en-IN" sz="2800" dirty="0"/>
              <a:t>• Provides access to </a:t>
            </a:r>
            <a:r>
              <a:rPr lang="en-IN" sz="2800" b="1" dirty="0"/>
              <a:t>Requests, Products, Payments, Tracking and Ratings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• Includes quick actions to </a:t>
            </a:r>
            <a:r>
              <a:rPr lang="en-IN" sz="2800" b="1" dirty="0"/>
              <a:t>Review Requests, View Products and Process Payments</a:t>
            </a:r>
            <a:r>
              <a:rPr lang="en-IN" sz="2800" dirty="0"/>
              <a:t>. </a:t>
            </a:r>
          </a:p>
          <a:p>
            <a:r>
              <a:rPr lang="en-IN" sz="2800" b="1" dirty="0"/>
              <a:t> </a:t>
            </a:r>
            <a:r>
              <a:rPr lang="en-IN" sz="3100" b="1" dirty="0"/>
              <a:t>Backend Integration:</a:t>
            </a:r>
          </a:p>
          <a:p>
            <a:pPr lvl="0"/>
            <a:r>
              <a:rPr lang="en-IN" sz="2800" dirty="0"/>
              <a:t>• Retrieves procurement data from the </a:t>
            </a:r>
            <a:r>
              <a:rPr lang="en-IN" sz="2800" b="1" dirty="0"/>
              <a:t>Spring Boot backend</a:t>
            </a:r>
            <a:r>
              <a:rPr lang="en-IN" sz="2800" dirty="0"/>
              <a:t> through REST APIs. </a:t>
            </a:r>
          </a:p>
          <a:p>
            <a:pPr lvl="0"/>
            <a:r>
              <a:rPr lang="en-IN" sz="2800" dirty="0"/>
              <a:t>• Loads and processes </a:t>
            </a:r>
            <a:r>
              <a:rPr lang="en-IN" sz="2800" b="1" dirty="0"/>
              <a:t>user requests, product information and payment-related data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• Allows the administrator to </a:t>
            </a:r>
            <a:r>
              <a:rPr lang="en-IN" sz="2800" b="1" dirty="0"/>
              <a:t>review, approve or reject procurement requests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• Supports </a:t>
            </a:r>
            <a:r>
              <a:rPr lang="en-IN" sz="2800" b="1" dirty="0"/>
              <a:t>payment processing</a:t>
            </a:r>
            <a:r>
              <a:rPr lang="en-IN" sz="2800" dirty="0"/>
              <a:t> for approved requests. </a:t>
            </a:r>
          </a:p>
          <a:p>
            <a:pPr lvl="0"/>
            <a:r>
              <a:rPr lang="en-IN" sz="2800" dirty="0"/>
              <a:t>• Provides backend support for </a:t>
            </a:r>
            <a:r>
              <a:rPr lang="en-IN" sz="2800" b="1" dirty="0"/>
              <a:t>order/shipment tracking</a:t>
            </a:r>
            <a:r>
              <a:rPr lang="en-IN" sz="2800" dirty="0"/>
              <a:t>, allowing administrators to     monitor procurement progress. </a:t>
            </a:r>
          </a:p>
          <a:p>
            <a:pPr lvl="0"/>
            <a:endParaRPr lang="en-IN" sz="2800" dirty="0"/>
          </a:p>
          <a:p>
            <a:r>
              <a:rPr lang="en-IN" sz="2800" b="1" dirty="0"/>
              <a:t>		</a:t>
            </a:r>
            <a:r>
              <a:rPr lang="en-IN" sz="2800" b="1" dirty="0">
                <a:solidFill>
                  <a:srgbClr val="FF0000"/>
                </a:solidFill>
              </a:rPr>
              <a:t>ADMIN LOGIN → ADMIN DASHBOARD → REST API → SPRING BOOT → 					DATABASE → RESPONSE → DASHBOARD</a:t>
            </a:r>
            <a:endParaRPr lang="en-IN" sz="2800" dirty="0">
              <a:solidFill>
                <a:srgbClr val="FF0000"/>
              </a:solidFill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0190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6F97-809F-7AD7-4C94-47CE2D59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9B4514-5B57-6707-0C0B-896FC7FFCD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6019247-B8A9-59B8-C54C-5C2810731E31}"/>
              </a:ext>
            </a:extLst>
          </p:cNvPr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80F1DC3-7ED1-F7CE-73E6-9966BCFE7313}"/>
              </a:ext>
            </a:extLst>
          </p:cNvPr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B078CB0-D433-409A-E3C2-81B01327BAA6}"/>
              </a:ext>
            </a:extLst>
          </p:cNvPr>
          <p:cNvGrpSpPr/>
          <p:nvPr/>
        </p:nvGrpSpPr>
        <p:grpSpPr>
          <a:xfrm>
            <a:off x="3061529" y="2937389"/>
            <a:ext cx="12164941" cy="4412223"/>
            <a:chOff x="0" y="0"/>
            <a:chExt cx="3203935" cy="116206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63A00EF-45C7-2F58-82D1-A7E11AA76AA0}"/>
                </a:ext>
              </a:extLst>
            </p:cNvPr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DB8261D-1F1B-BE85-2104-18BD827789A2}"/>
                </a:ext>
              </a:extLst>
            </p:cNvPr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A5675DA-15A3-A5BD-4D8F-277499371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" y="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9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EAC5B-34FC-C713-F67C-C0276C59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FA8419-163A-25A7-6BA7-425AD1990975}"/>
              </a:ext>
            </a:extLst>
          </p:cNvPr>
          <p:cNvGrpSpPr/>
          <p:nvPr/>
        </p:nvGrpSpPr>
        <p:grpSpPr>
          <a:xfrm>
            <a:off x="247242" y="242294"/>
            <a:ext cx="17793515" cy="9802411"/>
            <a:chOff x="0" y="0"/>
            <a:chExt cx="4982580" cy="27448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A0666FE-EA90-E1BB-2430-4F2474643103}"/>
                </a:ext>
              </a:extLst>
            </p:cNvPr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5F988A9-095A-7A8E-E78A-193FDEBAC390}"/>
                </a:ext>
              </a:extLst>
            </p:cNvPr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07319C1-964C-2F21-4825-CF96CF8F02AD}"/>
              </a:ext>
            </a:extLst>
          </p:cNvPr>
          <p:cNvSpPr/>
          <p:nvPr/>
        </p:nvSpPr>
        <p:spPr>
          <a:xfrm>
            <a:off x="1905000" y="8984546"/>
            <a:ext cx="13563600" cy="438818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11190D-CA29-E14F-0755-ABC8A667D247}"/>
              </a:ext>
            </a:extLst>
          </p:cNvPr>
          <p:cNvSpPr txBox="1"/>
          <p:nvPr/>
        </p:nvSpPr>
        <p:spPr>
          <a:xfrm>
            <a:off x="2133600" y="1804367"/>
            <a:ext cx="13106400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Frontend:</a:t>
            </a:r>
          </a:p>
          <a:p>
            <a:pPr lvl="0"/>
            <a:r>
              <a:rPr lang="en-IN" sz="2800" dirty="0"/>
              <a:t>• Displays supplier information and the </a:t>
            </a:r>
            <a:r>
              <a:rPr lang="en-IN" sz="2800" b="1" dirty="0"/>
              <a:t>assigned product and available stock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• Shows important order statistics such as </a:t>
            </a:r>
            <a:r>
              <a:rPr lang="en-IN" sz="2800" b="1" dirty="0"/>
              <a:t>Paid Orders, New Orders, In Transit and Delivered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• Provides access to </a:t>
            </a:r>
            <a:r>
              <a:rPr lang="en-IN" sz="2800" b="1" dirty="0"/>
              <a:t>Orders, Shipping, Inventory, Ratings and Profile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• Displays recent paid orders assigned to the supplier. </a:t>
            </a:r>
          </a:p>
          <a:p>
            <a:pPr lvl="0"/>
            <a:r>
              <a:rPr lang="en-IN" sz="2800" dirty="0"/>
              <a:t>• Provides a </a:t>
            </a:r>
            <a:r>
              <a:rPr lang="en-IN" sz="2800" b="1" dirty="0"/>
              <a:t>Shipping Progress</a:t>
            </a:r>
            <a:r>
              <a:rPr lang="en-IN" sz="2800" dirty="0"/>
              <a:t> section to monitor delivery activities. </a:t>
            </a:r>
          </a:p>
          <a:p>
            <a:r>
              <a:rPr lang="en-IN" sz="3200" b="1" dirty="0"/>
              <a:t>Backend Integration:</a:t>
            </a:r>
          </a:p>
          <a:p>
            <a:pPr lvl="0"/>
            <a:r>
              <a:rPr lang="en-IN" sz="2800" dirty="0"/>
              <a:t>• Retrieves the supplier's assigned orders and product information from the </a:t>
            </a:r>
            <a:r>
              <a:rPr lang="en-IN" sz="2800" b="1" dirty="0"/>
              <a:t>Spring Boot backend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• Connects supplier actions with backend APIs for </a:t>
            </a:r>
            <a:r>
              <a:rPr lang="en-IN" sz="2800" b="1" dirty="0"/>
              <a:t>orders, inventory and shipping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• Allows suppliers to update </a:t>
            </a:r>
            <a:r>
              <a:rPr lang="en-IN" sz="2800" b="1" dirty="0"/>
              <a:t>inventory and shipment/delivery status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• The backend processes these updates and stores the latest information for the       procurement workflow. </a:t>
            </a:r>
          </a:p>
          <a:p>
            <a:r>
              <a:rPr lang="en-IN" sz="2800" b="1" dirty="0"/>
              <a:t>		</a:t>
            </a:r>
            <a:r>
              <a:rPr lang="en-IN" sz="2800" b="1" dirty="0">
                <a:solidFill>
                  <a:srgbClr val="FF0000"/>
                </a:solidFill>
              </a:rPr>
              <a:t>SUPPLIER LOGIN → SUPPLIER DASHBOARD → REST API → SPRING BOOT → 				DATABASE → RESPONSE → DASHBOARD</a:t>
            </a:r>
            <a:endParaRPr lang="en-IN" sz="2800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7C3AC-5F74-B17A-FD68-2A9E2C9B24AF}"/>
              </a:ext>
            </a:extLst>
          </p:cNvPr>
          <p:cNvSpPr txBox="1"/>
          <p:nvPr/>
        </p:nvSpPr>
        <p:spPr>
          <a:xfrm>
            <a:off x="3048000" y="767527"/>
            <a:ext cx="13257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SUPPLIER DASHBOARD — FRONTEND &amp; BACKEND</a:t>
            </a:r>
          </a:p>
        </p:txBody>
      </p:sp>
    </p:spTree>
    <p:extLst>
      <p:ext uri="{BB962C8B-B14F-4D97-AF65-F5344CB8AC3E}">
        <p14:creationId xmlns:p14="http://schemas.microsoft.com/office/powerpoint/2010/main" val="2273368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37158-6ADB-5F3C-26CE-50DA1755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D98127-A12D-F23D-9BCF-604B3475EAF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1EA5F0D-AEA4-B53C-AB08-B9C7C1325C79}"/>
              </a:ext>
            </a:extLst>
          </p:cNvPr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6F6E551-B161-7EF1-732F-AA56F2A2E110}"/>
              </a:ext>
            </a:extLst>
          </p:cNvPr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9233830-2B4F-B414-B28E-DBC41097471B}"/>
              </a:ext>
            </a:extLst>
          </p:cNvPr>
          <p:cNvGrpSpPr/>
          <p:nvPr/>
        </p:nvGrpSpPr>
        <p:grpSpPr>
          <a:xfrm>
            <a:off x="3061529" y="2937389"/>
            <a:ext cx="12164941" cy="4412223"/>
            <a:chOff x="0" y="0"/>
            <a:chExt cx="3203935" cy="116206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B9092B9-35EB-C98E-4D30-2B2E61E8A5C8}"/>
                </a:ext>
              </a:extLst>
            </p:cNvPr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6494455-C047-8EAD-0E80-1000A2597BA5}"/>
                </a:ext>
              </a:extLst>
            </p:cNvPr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1BB3311-12FE-92BB-ADBF-519CC9F93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12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1600" y="4188389"/>
            <a:ext cx="8819592" cy="176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10"/>
              </a:lnSpc>
              <a:spcBef>
                <a:spcPct val="0"/>
              </a:spcBef>
            </a:pPr>
            <a:r>
              <a:rPr lang="en-US" sz="10364" b="1" dirty="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398912" y="0"/>
            <a:ext cx="5889088" cy="756959"/>
            <a:chOff x="0" y="0"/>
            <a:chExt cx="1551036" cy="1993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98912" y="9530041"/>
            <a:ext cx="5889088" cy="756959"/>
            <a:chOff x="0" y="0"/>
            <a:chExt cx="1551036" cy="1993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-4925441" y="3609788"/>
            <a:ext cx="9392643" cy="9529477"/>
          </a:xfrm>
          <a:custGeom>
            <a:avLst/>
            <a:gdLst/>
            <a:ahLst/>
            <a:cxnLst/>
            <a:rect l="l" t="t" r="r" b="b"/>
            <a:pathLst>
              <a:path w="9392643" h="9529477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746</Words>
  <Application>Microsoft Office PowerPoint</Application>
  <PresentationFormat>Custom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Poppins</vt:lpstr>
      <vt:lpstr>Calibri</vt:lpstr>
      <vt:lpstr>Poppins Bold</vt:lpstr>
      <vt:lpstr>Montserrat</vt:lpstr>
      <vt:lpstr>Montserrat Bold</vt:lpstr>
      <vt:lpstr>Montserrat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Professional Modern Technology Pitch Deck Presentation</dc:title>
  <dc:creator>Raja venkata satya sai nadh golla</dc:creator>
  <cp:lastModifiedBy>Raja venkata satya sai nadh golla</cp:lastModifiedBy>
  <cp:revision>4</cp:revision>
  <dcterms:created xsi:type="dcterms:W3CDTF">2006-08-16T00:00:00Z</dcterms:created>
  <dcterms:modified xsi:type="dcterms:W3CDTF">2026-09-13T13:02:56Z</dcterms:modified>
  <dc:identifier>DAHU--fHYT8</dc:identifier>
</cp:coreProperties>
</file>